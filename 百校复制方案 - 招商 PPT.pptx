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高校思政 VR 百校复制方案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全国首个高校思政 VR 轻资产运营标杆项目</a:t>
            </a:r>
          </a:p>
          <a:p/>
          <a:p>
            <a:r>
              <a:t>编制日期：2026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政策风口与市场机会</a:t>
            </a:r>
          </a:p>
          <a:p>
            <a:pPr>
              <a:defRPr sz="1800"/>
            </a:pPr>
            <a:r>
              <a:t>2. 桂林学院案例展示</a:t>
            </a:r>
          </a:p>
          <a:p>
            <a:pPr>
              <a:defRPr sz="1800"/>
            </a:pPr>
            <a:r>
              <a:t>3. 三档方案介绍</a:t>
            </a:r>
          </a:p>
          <a:p>
            <a:pPr>
              <a:defRPr sz="1800"/>
            </a:pPr>
            <a:r>
              <a:t>4. 投资回报分析</a:t>
            </a:r>
          </a:p>
          <a:p>
            <a:pPr>
              <a:defRPr sz="1800"/>
            </a:pPr>
            <a:r>
              <a:t>5. 百校复制计划</a:t>
            </a:r>
          </a:p>
          <a:p>
            <a:pPr>
              <a:defRPr sz="1800"/>
            </a:pPr>
            <a:r>
              <a:t>6. 合作流程与时间线</a:t>
            </a:r>
          </a:p>
          <a:p>
            <a:pPr>
              <a:defRPr sz="1800"/>
            </a:pPr>
            <a:r>
              <a:t>7. 联系我们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政策风口：国家战略强力支持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教育部《全面推进"大思政课"建设的工作方案》</a:t>
            </a:r>
          </a:p>
          <a:p>
            <a:pPr>
              <a:defRPr sz="1800"/>
            </a:pPr>
            <a:r>
              <a:t>   • 明确提出"善用信息化手段，建设智能化思政教育平台"</a:t>
            </a:r>
          </a:p>
          <a:p>
            <a:pPr>
              <a:defRPr sz="1800"/>
            </a:pPr>
            <a:r>
              <a:t>   • 鼓励"虚拟仿真技术在思政教学中的应用"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工信部等五部门《虚拟现实与行业应用融合发展行动计划》</a:t>
            </a:r>
          </a:p>
          <a:p>
            <a:pPr>
              <a:defRPr sz="1800"/>
            </a:pPr>
            <a:r>
              <a:t>   • 将"虚拟现实 + 教育"列为重点应用领域</a:t>
            </a:r>
          </a:p>
          <a:p>
            <a:pPr>
              <a:defRPr sz="1800"/>
            </a:pPr>
            <a:r>
              <a:t>   • 2022-2026 年重点支持期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《新时代学校思想政治理论课改革创新实施方案》</a:t>
            </a:r>
          </a:p>
          <a:p>
            <a:pPr>
              <a:defRPr sz="1800"/>
            </a:pPr>
            <a:r>
              <a:t>   • 推动思政课教学改革创新</a:t>
            </a:r>
          </a:p>
          <a:p>
            <a:pPr>
              <a:defRPr sz="1800"/>
            </a:pPr>
            <a:r>
              <a:t>   • 鼓励运用现代信息技术提升教学效果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省级配套：专项资金支持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6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省份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专项经费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支持方向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江苏省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万元/校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思政示范课程建设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浙江省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 万元/校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数字化思政平台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广东省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 万元/校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虚拟仿真实验项目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四川省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万元/校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思政实践基地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湖北省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 万元/校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智慧马院建设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市场机会：百亿级蓝海市场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🎯 目标市场：全国普通高校约 3000 所</a:t>
            </a:r>
          </a:p>
          <a:p>
            <a:pPr>
              <a:defRPr sz="1800"/>
            </a:pPr>
            <a:r>
              <a:t>📈 渗透空间：目前 VR 思政渗透率&lt;1%，增长空间巨大</a:t>
            </a:r>
          </a:p>
          <a:p>
            <a:pPr>
              <a:defRPr sz="1800"/>
            </a:pPr>
            <a:r>
              <a:t>🎯 3 年目标：覆盖 100 所高校（3.3% 渗透率）</a:t>
            </a:r>
          </a:p>
          <a:p>
            <a:pPr>
              <a:defRPr sz="1800"/>
            </a:pPr>
            <a:r>
              <a:t>💰 单校价值：100-500 万元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市场规模：</a:t>
            </a:r>
          </a:p>
          <a:p>
            <a:pPr>
              <a:defRPr sz="1800"/>
            </a:pPr>
            <a:r>
              <a:t>   • 3 年可触达：1.5-2 亿元</a:t>
            </a:r>
          </a:p>
          <a:p>
            <a:pPr>
              <a:defRPr sz="1800"/>
            </a:pPr>
            <a:r>
              <a:t>   • 长期潜力：30-150 亿元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桂林学院：首个标杆项目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📍 合作院校：桂林学院</a:t>
            </a:r>
          </a:p>
          <a:p>
            <a:pPr>
              <a:defRPr sz="1800"/>
            </a:pPr>
            <a:r>
              <a:t>📅 运营时间：2025 年 12 月正式运营</a:t>
            </a:r>
          </a:p>
          <a:p>
            <a:pPr>
              <a:defRPr sz="1800"/>
            </a:pPr>
            <a:r>
              <a:t>💰 投资金额：100 万元</a:t>
            </a:r>
          </a:p>
          <a:p>
            <a:pPr>
              <a:defRPr sz="1800"/>
            </a:pPr>
            <a:r>
              <a:t>🎧 设备规模：20 台 VR 一体机</a:t>
            </a:r>
          </a:p>
          <a:p>
            <a:pPr>
              <a:defRPr sz="1800"/>
            </a:pPr>
            <a:r>
              <a:t>🏠 场地面积：80 平方米 VR 实训室</a:t>
            </a:r>
          </a:p>
          <a:p>
            <a:pPr>
              <a:defRPr sz="1800"/>
            </a:pPr>
            <a:r>
              <a:t>👥 服务师生：年均 3000+ 人次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门 VR 思政精品课程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5142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代表课程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时长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党史教育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《长征路上的抉择》《开国大典》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20-28 分钟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国情教育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《脱贫攻坚》《大国重器》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28-30 分钟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红色文化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《井冈山精神》《延安岁月》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25-27 分钟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价值观教育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《榜样的力量》《青春告白祖国》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18-20 分钟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校史教育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《桂林学院发展史》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分钟</a:t>
                      </a:r>
                    </a:p>
                  </a:txBody>
                  <a:tcPr/>
                </a:tc>
              </a:tr>
              <a:tr h="514290">
                <a:tc>
                  <a:txBody>
                    <a:bodyPr/>
                    <a:lstStyle/>
                    <a:p>
                      <a:r>
                        <a:t>实践实训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《思政微课演练》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分钟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教学效果：数据说话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6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传统教学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教学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学习兴趣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+41.5%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知识掌握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+22.2%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课堂参与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+62.1%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记忆留存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+73.3%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课程满意度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+28.0%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社会影响：示范效应显著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📰 媒体报道：广西日报、桂林电视台等 8 家媒体报道</a:t>
            </a:r>
          </a:p>
          <a:p>
            <a:pPr>
              <a:defRPr sz="1800"/>
            </a:pPr>
            <a:r>
              <a:t>👥 参观接待：接待区内外高校参观团 15 批次</a:t>
            </a:r>
          </a:p>
          <a:p>
            <a:pPr>
              <a:defRPr sz="1800"/>
            </a:pPr>
            <a:r>
              <a:t>🏆 获奖情况：获 2025 年广西高校思政工作精品项目</a:t>
            </a:r>
          </a:p>
          <a:p>
            <a:pPr>
              <a:defRPr sz="1800"/>
            </a:pPr>
            <a:r>
              <a:t>🤝 示范效应：3 所周边高校已表达合作意向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财务表现：商业模式验证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📊 收入结构（年度 60 万元）：</a:t>
            </a:r>
          </a:p>
          <a:p>
            <a:pPr>
              <a:defRPr sz="1800"/>
            </a:pPr>
            <a:r>
              <a:t>   • 设备租赁费：30 万（50%）</a:t>
            </a:r>
          </a:p>
          <a:p>
            <a:pPr>
              <a:defRPr sz="1800"/>
            </a:pPr>
            <a:r>
              <a:t>   • 内容订阅费：15 万（25%）</a:t>
            </a:r>
          </a:p>
          <a:p>
            <a:pPr>
              <a:defRPr sz="1800"/>
            </a:pPr>
            <a:r>
              <a:t>   • 运营服务费：10 万（16.7%）</a:t>
            </a:r>
          </a:p>
          <a:p>
            <a:pPr>
              <a:defRPr sz="1800"/>
            </a:pPr>
            <a:r>
              <a:t>   • 定制开发费：5 万（8.3%）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💰 盈利情况：</a:t>
            </a:r>
          </a:p>
          <a:p>
            <a:pPr>
              <a:defRPr sz="1800"/>
            </a:pPr>
            <a:r>
              <a:t>   • 年毛利润：25.5 万元</a:t>
            </a:r>
          </a:p>
          <a:p>
            <a:pPr>
              <a:defRPr sz="1800"/>
            </a:pPr>
            <a:r>
              <a:t>   • 毛利率：42.5%</a:t>
            </a:r>
          </a:p>
          <a:p>
            <a:pPr>
              <a:defRPr sz="1800"/>
            </a:pPr>
            <a:r>
              <a:t>   • 投资回收期：约 20 个月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三档合作方案：灵活选择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424"/>
                <a:gridCol w="2150424"/>
                <a:gridCol w="2150424"/>
                <a:gridCol w="2150424"/>
                <a:gridCol w="2150424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投资金额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设备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课程数量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适合院校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📦 标配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普通本科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🚀 高配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20+2 定制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重点马院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👑 顶配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30+5 定制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双一流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📦 标配方案：100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适用对象：首次尝试 VR 思政教育的院校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配置清单：</a:t>
            </a:r>
          </a:p>
          <a:p>
            <a:pPr>
              <a:defRPr sz="1800"/>
            </a:pPr>
            <a:r>
              <a:t>   • 20 台 VR 一体机（PICO 4 Enterprise）</a:t>
            </a:r>
          </a:p>
          <a:p>
            <a:pPr>
              <a:defRPr sz="1800"/>
            </a:pPr>
            <a:r>
              <a:t>   • 1 台管理主机 + 2 台 65 寸电视</a:t>
            </a:r>
          </a:p>
          <a:p>
            <a:pPr>
              <a:defRPr sz="1800"/>
            </a:pPr>
            <a:r>
              <a:t>   • 12 门标准课程</a:t>
            </a:r>
          </a:p>
          <a:p>
            <a:pPr>
              <a:defRPr sz="1800"/>
            </a:pPr>
            <a:r>
              <a:t>   • 80㎡VR 实训室设计</a:t>
            </a:r>
          </a:p>
          <a:p>
            <a:pPr>
              <a:defRPr sz="1800"/>
            </a:pPr>
            <a:r>
              <a:t>   • 2 天师资培训</a:t>
            </a:r>
          </a:p>
          <a:p>
            <a:pPr>
              <a:defRPr sz="1800"/>
            </a:pPr>
            <a:r>
              <a:t>   • 3 个月运营指导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交付周期：合同签订后 30 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高配方案：200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适用对象：重点马院、省级示范院校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配置清单：</a:t>
            </a:r>
          </a:p>
          <a:p>
            <a:pPr>
              <a:defRPr sz="1800"/>
            </a:pPr>
            <a:r>
              <a:t>   • 40 台 VR 一体机</a:t>
            </a:r>
          </a:p>
          <a:p>
            <a:pPr>
              <a:defRPr sz="1800"/>
            </a:pPr>
            <a:r>
              <a:t>   • 2 台管理主机 + 3 台 75 寸电视</a:t>
            </a:r>
          </a:p>
          <a:p>
            <a:pPr>
              <a:defRPr sz="1800"/>
            </a:pPr>
            <a:r>
              <a:t>   • 20 门课程 + 2 门校本定制</a:t>
            </a:r>
          </a:p>
          <a:p>
            <a:pPr>
              <a:defRPr sz="1800"/>
            </a:pPr>
            <a:r>
              <a:t>   • 150㎡VR 实训中心设计</a:t>
            </a:r>
          </a:p>
          <a:p>
            <a:pPr>
              <a:defRPr sz="1800"/>
            </a:pPr>
            <a:r>
              <a:t>   • 5 天师资培训 + 实训</a:t>
            </a:r>
          </a:p>
          <a:p>
            <a:pPr>
              <a:defRPr sz="1800"/>
            </a:pPr>
            <a:r>
              <a:t>   • 6 个月驻校运营支持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交付周期：合同签订后 45 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👑 顶配方案：500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适用对象：双一流高校、省级思政中心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配置清单：</a:t>
            </a:r>
          </a:p>
          <a:p>
            <a:pPr>
              <a:defRPr sz="1800"/>
            </a:pPr>
            <a:r>
              <a:t>   • 100 台 VR 一体机</a:t>
            </a:r>
          </a:p>
          <a:p>
            <a:pPr>
              <a:defRPr sz="1800"/>
            </a:pPr>
            <a:r>
              <a:t>   • 2 台服务器 + 5 台 86 寸会议平板</a:t>
            </a:r>
          </a:p>
          <a:p>
            <a:pPr>
              <a:defRPr sz="1800"/>
            </a:pPr>
            <a:r>
              <a:t>   • 30 门课程 + 5 门深度定制</a:t>
            </a:r>
          </a:p>
          <a:p>
            <a:pPr>
              <a:defRPr sz="1800"/>
            </a:pPr>
            <a:r>
              <a:t>   • 300㎡VR 思政中心设计</a:t>
            </a:r>
          </a:p>
          <a:p>
            <a:pPr>
              <a:defRPr sz="1800"/>
            </a:pPr>
            <a:r>
              <a:t>   • 10 天系统培训</a:t>
            </a:r>
          </a:p>
          <a:p>
            <a:pPr>
              <a:defRPr sz="1800"/>
            </a:pPr>
            <a:r>
              <a:t>   • 12 个月驻校运营支持</a:t>
            </a:r>
          </a:p>
          <a:p>
            <a:pPr>
              <a:defRPr sz="1800"/>
            </a:pPr>
            <a:r>
              <a:t>   • 省级标杆申报支持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交付周期：合同签订后 60 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方案对比：一目了然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45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标配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高配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顶配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投资金额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万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VR 设备数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台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课程数量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 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 门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场地面积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300㎡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培训时长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天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运营支持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个月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交付周期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 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投资回报：单校盈利模型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📊 单校年收入：</a:t>
            </a:r>
          </a:p>
          <a:p>
            <a:pPr>
              <a:defRPr sz="1800"/>
            </a:pPr>
            <a:r>
              <a:t>   • 标配：60 万元</a:t>
            </a:r>
          </a:p>
          <a:p>
            <a:pPr>
              <a:defRPr sz="1800"/>
            </a:pPr>
            <a:r>
              <a:t>   • 高配：120 万元</a:t>
            </a:r>
          </a:p>
          <a:p>
            <a:pPr>
              <a:defRPr sz="1800"/>
            </a:pPr>
            <a:r>
              <a:t>   • 顶配：300 万元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💰 单校年成本：</a:t>
            </a:r>
          </a:p>
          <a:p>
            <a:pPr>
              <a:defRPr sz="1800"/>
            </a:pPr>
            <a:r>
              <a:t>   • 标配：34.5 万元</a:t>
            </a:r>
          </a:p>
          <a:p>
            <a:pPr>
              <a:defRPr sz="1800"/>
            </a:pPr>
            <a:r>
              <a:t>   • 高配：69 万元</a:t>
            </a:r>
          </a:p>
          <a:p>
            <a:pPr>
              <a:defRPr sz="1800"/>
            </a:pPr>
            <a:r>
              <a:t>   • 顶配：172.5 万元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单校年毛利：</a:t>
            </a:r>
          </a:p>
          <a:p>
            <a:pPr>
              <a:defRPr sz="1800"/>
            </a:pPr>
            <a:r>
              <a:t>   • 标配：25.5 万元（毛利率 42.5%）</a:t>
            </a:r>
          </a:p>
          <a:p>
            <a:pPr>
              <a:defRPr sz="1800"/>
            </a:pPr>
            <a:r>
              <a:t>   • 高配：51 万元（毛利率 42.5%）</a:t>
            </a:r>
          </a:p>
          <a:p>
            <a:pPr>
              <a:defRPr sz="1800"/>
            </a:pPr>
            <a:r>
              <a:t>   • 顶配：127.5 万元（毛利率 42.5%）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投资回收期：约 20 个月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总投资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年毛利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回收期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标配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25.5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个月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高配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个月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顶配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127.5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个月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百校复制计划：3 年 100 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424"/>
                <a:gridCol w="2150424"/>
                <a:gridCol w="2150424"/>
                <a:gridCol w="2150424"/>
                <a:gridCol w="2150424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新增院校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累计院校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当年收入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第一阶段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 Q2-Q4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万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第二阶段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2027 全年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 万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第三阶段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2028 全年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区域布局：六大区全覆盖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5142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大区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覆盖省份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目标院校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江浙沪皖鲁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京津冀晋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粤桂琼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鄂湘豫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西南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川渝云贵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90">
                <a:tc>
                  <a:txBody>
                    <a:bodyPr/>
                    <a:lstStyle/>
                    <a:p>
                      <a:r>
                        <a:t>西北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陕甘新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合作流程：7 步走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意向沟通（1 周）</a:t>
            </a:r>
          </a:p>
          <a:p>
            <a:pPr>
              <a:defRPr sz="1800"/>
            </a:pPr>
            <a:r>
              <a:t>2. 方案定制（2 周）</a:t>
            </a:r>
          </a:p>
          <a:p>
            <a:pPr>
              <a:defRPr sz="1800"/>
            </a:pPr>
            <a:r>
              <a:t>3. 合同签订（1 周）</a:t>
            </a:r>
          </a:p>
          <a:p>
            <a:pPr>
              <a:defRPr sz="1800"/>
            </a:pPr>
            <a:r>
              <a:t>4. 设备部署（2 周）</a:t>
            </a:r>
          </a:p>
          <a:p>
            <a:pPr>
              <a:defRPr sz="1800"/>
            </a:pPr>
            <a:r>
              <a:t>5. 师资培训（1 周）</a:t>
            </a:r>
          </a:p>
          <a:p>
            <a:pPr>
              <a:defRPr sz="1800"/>
            </a:pPr>
            <a:r>
              <a:t>6. 正式运营（持续）</a:t>
            </a:r>
          </a:p>
          <a:p>
            <a:pPr>
              <a:defRPr sz="1800"/>
            </a:pPr>
            <a:r>
              <a:t>7. 持续服务（持续）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总周期：</a:t>
            </a:r>
          </a:p>
          <a:p>
            <a:pPr>
              <a:defRPr sz="1800"/>
            </a:pPr>
            <a:r>
              <a:t>   • 首校：6-8 周</a:t>
            </a:r>
          </a:p>
          <a:p>
            <a:pPr>
              <a:defRPr sz="1800"/>
            </a:pPr>
            <a:r>
              <a:t>   • 后续复制：4-6 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服务保障：全程护航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📚 培训服务：</a:t>
            </a:r>
          </a:p>
          <a:p>
            <a:pPr>
              <a:defRPr sz="1800"/>
            </a:pPr>
            <a:r>
              <a:t>   • 基础培训（1 天）：设备操作、平台使用</a:t>
            </a:r>
          </a:p>
          <a:p>
            <a:pPr>
              <a:defRPr sz="1800"/>
            </a:pPr>
            <a:r>
              <a:t>   • 教学培训（1-4 天）：VR 教学设计</a:t>
            </a:r>
          </a:p>
          <a:p>
            <a:pPr>
              <a:defRPr sz="1800"/>
            </a:pPr>
            <a:r>
              <a:t>   • 认证培训（5-10 天）：全面系统培训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🔧 运维服务：</a:t>
            </a:r>
          </a:p>
          <a:p>
            <a:pPr>
              <a:defRPr sz="1800"/>
            </a:pPr>
            <a:r>
              <a:t>   • 电话咨询：即时响应</a:t>
            </a:r>
          </a:p>
          <a:p>
            <a:pPr>
              <a:defRPr sz="1800"/>
            </a:pPr>
            <a:r>
              <a:t>   • 远程支持：≤30 分钟响应</a:t>
            </a:r>
          </a:p>
          <a:p>
            <a:pPr>
              <a:defRPr sz="1800"/>
            </a:pPr>
            <a:r>
              <a:t>   • 现场服务：≤4 小时到达</a:t>
            </a:r>
          </a:p>
          <a:p>
            <a:pPr>
              <a:defRPr sz="1800"/>
            </a:pPr>
            <a:r>
              <a:t>   • 设备更换：≤72 小时完成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📦 内容更新：</a:t>
            </a:r>
          </a:p>
          <a:p>
            <a:pPr>
              <a:defRPr sz="1800"/>
            </a:pPr>
            <a:r>
              <a:t>   • 季度常规更新</a:t>
            </a:r>
          </a:p>
          <a:p>
            <a:pPr>
              <a:defRPr sz="1800"/>
            </a:pPr>
            <a:r>
              <a:t>   • 重大节日专题更新</a:t>
            </a:r>
          </a:p>
          <a:p>
            <a:pPr>
              <a:defRPr sz="1800"/>
            </a:pPr>
            <a:r>
              <a:t>   • 校本定制开发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👤 项目负责人：[待填写]</a:t>
            </a:r>
          </a:p>
          <a:p>
            <a:pPr>
              <a:defRPr sz="1800"/>
            </a:pPr>
            <a:r>
              <a:t>📞 联系电话：[待填写]</a:t>
            </a:r>
          </a:p>
          <a:p>
            <a:pPr>
              <a:defRPr sz="1800"/>
            </a:pPr>
            <a:r>
              <a:t>📧 电子邮箱：[待填写]</a:t>
            </a:r>
          </a:p>
          <a:p>
            <a:pPr>
              <a:defRPr sz="1800"/>
            </a:pPr>
            <a:r>
              <a:t>🏢 公司地址：[待填写]</a:t>
            </a:r>
          </a:p>
          <a:p>
            <a:pPr>
              <a:defRPr sz="1800"/>
            </a:pPr>
            <a:r>
              <a:t>🌐 官方网站：[待填写]</a:t>
            </a:r>
          </a:p>
          <a:p>
            <a:pPr>
              <a:defRPr sz="1800"/>
            </a:pPr>
            <a:r>
              <a:t>💬 微信公众号：[待填写]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携手共建 思政 VR 新生态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期待与您合作！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