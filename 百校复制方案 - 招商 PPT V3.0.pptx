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高校思政 VR 百校复制方案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🔴 中宣部学习强国领衔出品 | 🎬 国家电影局首个 VR 龙标认证</a:t>
            </a:r>
          </a:p>
          <a:p/>
          <a:p>
            <a:r>
              <a:t>版本号：V3.0（终极版）</a:t>
            </a:r>
          </a:p>
          <a:p>
            <a:r>
              <a:t>编制日期：2026 年 4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🔴 核心背书：竞品 100% 无法复制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🔴 中宣部学习强国领衔出品：</a:t>
            </a:r>
          </a:p>
          <a:p>
            <a:pPr>
              <a:defRPr sz="1800"/>
            </a:pPr>
            <a:r>
              <a:t>   • 中宣部主管的国家级学习平台</a:t>
            </a:r>
          </a:p>
          <a:p>
            <a:pPr>
              <a:defRPr sz="1800"/>
            </a:pPr>
            <a:r>
              <a:t>   • 政治安全性 100% 保障</a:t>
            </a:r>
          </a:p>
          <a:p>
            <a:pPr>
              <a:defRPr sz="1800"/>
            </a:pPr>
            <a:r>
              <a:t>   • 品牌认知度 95%+</a:t>
            </a:r>
          </a:p>
          <a:p>
            <a:pPr>
              <a:defRPr sz="1800"/>
            </a:pPr>
            <a:r>
              <a:t>   • 高校采购零风险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🎬 国家电影局首个 VR 龙标认证：</a:t>
            </a:r>
          </a:p>
          <a:p>
            <a:pPr>
              <a:defRPr sz="1800"/>
            </a:pPr>
            <a:r>
              <a:t>   • 全国首个 VR 内容获龙标</a:t>
            </a:r>
          </a:p>
          <a:p>
            <a:pPr>
              <a:defRPr sz="1800"/>
            </a:pPr>
            <a:r>
              <a:t>   • 国家最高级别内容审查</a:t>
            </a:r>
          </a:p>
          <a:p>
            <a:pPr>
              <a:defRPr sz="1800"/>
            </a:pPr>
            <a:r>
              <a:t>   • 重大革命题材 VR 唯一龙标</a:t>
            </a:r>
          </a:p>
          <a:p>
            <a:pPr>
              <a:defRPr sz="1800"/>
            </a:pPr>
            <a:r>
              <a:t>   • 竞品 100% 无法复制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💡 核心价值：学习强国 + 龙标双重背书，高校采购放心！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独家资源优势（学习强国 + 龙标）</a:t>
            </a:r>
          </a:p>
          <a:p>
            <a:pPr>
              <a:defRPr sz="1800"/>
            </a:pPr>
            <a:r>
              <a:t>2. 政策风口与市场机会</a:t>
            </a:r>
          </a:p>
          <a:p>
            <a:pPr>
              <a:defRPr sz="1800"/>
            </a:pPr>
            <a:r>
              <a:t>3. 桂林学院案例展示</a:t>
            </a:r>
          </a:p>
          <a:p>
            <a:pPr>
              <a:defRPr sz="1800"/>
            </a:pPr>
            <a:r>
              <a:t>4. 三档方案介绍</a:t>
            </a:r>
          </a:p>
          <a:p>
            <a:pPr>
              <a:defRPr sz="1800"/>
            </a:pPr>
            <a:r>
              <a:t>5. 课程体系与教材对标</a:t>
            </a:r>
          </a:p>
          <a:p>
            <a:pPr>
              <a:defRPr sz="1800"/>
            </a:pPr>
            <a:r>
              <a:t>6. AIGC 技术服务</a:t>
            </a:r>
          </a:p>
          <a:p>
            <a:pPr>
              <a:defRPr sz="1800"/>
            </a:pPr>
            <a:r>
              <a:t>7. 投资回报分析</a:t>
            </a:r>
          </a:p>
          <a:p>
            <a:pPr>
              <a:defRPr sz="1800"/>
            </a:pPr>
            <a:r>
              <a:t>8. 竞品分析与差异化</a:t>
            </a:r>
          </a:p>
          <a:p>
            <a:pPr>
              <a:defRPr sz="1800"/>
            </a:pPr>
            <a:r>
              <a:t>9. 百校复制计划</a:t>
            </a:r>
          </a:p>
          <a:p>
            <a:pPr>
              <a:defRPr sz="1800"/>
            </a:pPr>
            <a:r>
              <a:t>10. 合作流程与时间线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🔴 中宣部学习强国领衔出品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🔴 政治背书：</a:t>
            </a:r>
          </a:p>
          <a:p>
            <a:pPr>
              <a:defRPr sz="1800"/>
            </a:pPr>
            <a:r>
              <a:t>   • 中宣部主管的国家级学习平台</a:t>
            </a:r>
          </a:p>
          <a:p>
            <a:pPr>
              <a:defRPr sz="1800"/>
            </a:pPr>
            <a:r>
              <a:t>   • 政治安全性 100% 保障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🔴 品牌效应：</a:t>
            </a:r>
          </a:p>
          <a:p>
            <a:pPr>
              <a:defRPr sz="1800"/>
            </a:pPr>
            <a:r>
              <a:t>   • "学习强国"品牌认知度 95%+</a:t>
            </a:r>
          </a:p>
          <a:p>
            <a:pPr>
              <a:defRPr sz="1800"/>
            </a:pPr>
            <a:r>
              <a:t>   • 高校认可度极高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🔴 采购合规：</a:t>
            </a:r>
          </a:p>
          <a:p>
            <a:pPr>
              <a:defRPr sz="1800"/>
            </a:pPr>
            <a:r>
              <a:t>   • 高校采购零风险，审批无障碍</a:t>
            </a:r>
          </a:p>
          <a:p>
            <a:pPr>
              <a:defRPr sz="1800"/>
            </a:pPr>
            <a:r>
              <a:t>   • 财务/资产处无顾虑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🔴 传播价值：</a:t>
            </a:r>
          </a:p>
          <a:p>
            <a:pPr>
              <a:defRPr sz="1800"/>
            </a:pPr>
            <a:r>
              <a:t>   • 学习强国平台全网传播</a:t>
            </a:r>
          </a:p>
          <a:p>
            <a:pPr>
              <a:defRPr sz="1800"/>
            </a:pPr>
            <a:r>
              <a:t>   • 品牌曝光亿级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🎬 国家电影局首个 VR"龙标"电影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🎬 行业首创：</a:t>
            </a:r>
          </a:p>
          <a:p>
            <a:pPr>
              <a:defRPr sz="1800"/>
            </a:pPr>
            <a:r>
              <a:t>   • 全国首个 VR 内容获龙标</a:t>
            </a:r>
          </a:p>
          <a:p>
            <a:pPr>
              <a:defRPr sz="1800"/>
            </a:pPr>
            <a:r>
              <a:t>   • 历史意义，里程碑事件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🎬 审查通过：</a:t>
            </a:r>
          </a:p>
          <a:p>
            <a:pPr>
              <a:defRPr sz="1800"/>
            </a:pPr>
            <a:r>
              <a:t>   • 国家最高级别内容审查</a:t>
            </a:r>
          </a:p>
          <a:p>
            <a:pPr>
              <a:defRPr sz="1800"/>
            </a:pPr>
            <a:r>
              <a:t>   • 政治安全 100% 保障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🎬 稀缺性：</a:t>
            </a:r>
          </a:p>
          <a:p>
            <a:pPr>
              <a:defRPr sz="1800"/>
            </a:pPr>
            <a:r>
              <a:t>   • 重大革命题材 VR 唯一龙标</a:t>
            </a:r>
          </a:p>
          <a:p>
            <a:pPr>
              <a:defRPr sz="1800"/>
            </a:pPr>
            <a:r>
              <a:t>   • 排他性，竞品无法复制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🎬 教育认可：</a:t>
            </a:r>
          </a:p>
          <a:p>
            <a:pPr>
              <a:defRPr sz="1800"/>
            </a:pPr>
            <a:r>
              <a:t>   • 龙标=教育内容合规认证</a:t>
            </a:r>
          </a:p>
          <a:p>
            <a:pPr>
              <a:defRPr sz="1800"/>
            </a:pPr>
            <a:r>
              <a:t>   • 高校采购依据充分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竞品壁垒：100% 无法复制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曼恒数字：</a:t>
            </a:r>
          </a:p>
          <a:p>
            <a:pPr>
              <a:defRPr sz="1800"/>
            </a:pPr>
            <a:r>
              <a:t>   • 技术强，但无学习强国 + 龙标背书</a:t>
            </a:r>
          </a:p>
          <a:p>
            <a:pPr>
              <a:defRPr sz="1800"/>
            </a:pPr>
            <a:r>
              <a:t>   • 政治安全性存疑</a:t>
            </a:r>
          </a:p>
          <a:p>
            <a:pPr>
              <a:defRPr sz="1800"/>
            </a:pPr>
            <a:r>
              <a:t>   • 高校采购需谨慎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其他厂商：</a:t>
            </a:r>
          </a:p>
          <a:p>
            <a:pPr>
              <a:defRPr sz="1800"/>
            </a:pPr>
            <a:r>
              <a:t>   • 无官方背书</a:t>
            </a:r>
          </a:p>
          <a:p>
            <a:pPr>
              <a:defRPr sz="1800"/>
            </a:pPr>
            <a:r>
              <a:t>   • 内容审查未通过</a:t>
            </a:r>
          </a:p>
          <a:p>
            <a:pPr>
              <a:defRPr sz="1800"/>
            </a:pPr>
            <a:r>
              <a:t>   • 高校采购风险高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我们的优势：</a:t>
            </a:r>
          </a:p>
          <a:p>
            <a:pPr>
              <a:defRPr sz="1800"/>
            </a:pPr>
            <a:r>
              <a:t>   • 学习强国 + 龙标双重背书</a:t>
            </a:r>
          </a:p>
          <a:p>
            <a:pPr>
              <a:defRPr sz="1800"/>
            </a:pPr>
            <a:r>
              <a:t>   • 100% 排他性</a:t>
            </a:r>
          </a:p>
          <a:p>
            <a:pPr>
              <a:defRPr sz="1800"/>
            </a:pPr>
            <a:r>
              <a:t>   • 竞品无法复制</a:t>
            </a:r>
          </a:p>
          <a:p>
            <a:pPr>
              <a:defRPr sz="1800"/>
            </a:pPr>
            <a:r>
              <a:t>   • 高校采购放心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三档合作方案：灵活选择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2520000"/>
          <a:ext cx="1075212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020"/>
                <a:gridCol w="1792020"/>
                <a:gridCol w="1792020"/>
                <a:gridCol w="1792020"/>
                <a:gridCol w="1792020"/>
                <a:gridCol w="1792020"/>
              </a:tblGrid>
              <a:tr h="9000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首年投资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VR 设备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订阅/年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AIGC/年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适合院校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r>
                        <a:t>📦 标配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 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 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 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5-10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普通本科</a:t>
                      </a:r>
                    </a:p>
                  </a:txBody>
                  <a:tcPr/>
                </a:tc>
              </a:tr>
              <a:tr h="900000">
                <a:tc>
                  <a:txBody>
                    <a:bodyPr/>
                    <a:lstStyle/>
                    <a:p>
                      <a:r>
                        <a:t>🚀 高配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 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 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 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10-20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重点马院</a:t>
                      </a:r>
                    </a:p>
                  </a:txBody>
                  <a:tcPr/>
                </a:tc>
              </a:tr>
              <a:tr h="900000">
                <a:tc>
                  <a:txBody>
                    <a:bodyPr/>
                    <a:lstStyle/>
                    <a:p>
                      <a:r>
                        <a:t>👑 顶配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 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 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 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20-40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双一流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商业模式：三轮驱动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📊 首年（设备销售）：</a:t>
            </a:r>
          </a:p>
          <a:p>
            <a:pPr>
              <a:defRPr sz="1800"/>
            </a:pPr>
            <a:r>
              <a:t>   • 100-500 万元一次性收入</a:t>
            </a:r>
          </a:p>
          <a:p>
            <a:pPr>
              <a:defRPr sz="1800"/>
            </a:pPr>
            <a:r>
              <a:t>   • 硬件 + 软件 + 内容打包</a:t>
            </a:r>
          </a:p>
          <a:p>
            <a:pPr>
              <a:defRPr sz="1800"/>
            </a:pPr>
            <a:r>
              <a:t>   • 毛利约 40%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📈 第二年起（内容订阅）：</a:t>
            </a:r>
          </a:p>
          <a:p>
            <a:pPr>
              <a:defRPr sz="1800"/>
            </a:pPr>
            <a:r>
              <a:t>   • 设备额的 15%/年</a:t>
            </a:r>
          </a:p>
          <a:p>
            <a:pPr>
              <a:defRPr sz="1800"/>
            </a:pPr>
            <a:r>
              <a:t>   • 课程更新 + 平台维护 + 运营服务</a:t>
            </a:r>
          </a:p>
          <a:p>
            <a:pPr>
              <a:defRPr sz="1800"/>
            </a:pPr>
            <a:r>
              <a:t>   • 毛利约 80%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🤖 AIGC 技术服务（增值）：</a:t>
            </a:r>
          </a:p>
          <a:p>
            <a:pPr>
              <a:defRPr sz="1800"/>
            </a:pPr>
            <a:r>
              <a:t>   • 校本课程 AI 生成、AI 教学助手等</a:t>
            </a:r>
          </a:p>
          <a:p>
            <a:pPr>
              <a:defRPr sz="1800"/>
            </a:pPr>
            <a:r>
              <a:t>   • 5-40 万元/年（根据方案）</a:t>
            </a:r>
          </a:p>
          <a:p>
            <a:pPr>
              <a:defRPr sz="1800"/>
            </a:pPr>
            <a:r>
              <a:t>   • 毛利 85%+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AIGC 技术服务清单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2520000"/>
          <a:ext cx="1075212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8030"/>
                <a:gridCol w="2688030"/>
                <a:gridCol w="2688030"/>
                <a:gridCol w="2688030"/>
              </a:tblGrid>
              <a:tr h="7200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服务项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定价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毛利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r>
                        <a:t>校本课程 AI 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基于学校历史生成定制课程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5-10 万/门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85%+</a:t>
                      </a:r>
                    </a:p>
                  </a:txBody>
                  <a:tcPr/>
                </a:tc>
              </a:tr>
              <a:tr h="720000">
                <a:tc>
                  <a:txBody>
                    <a:bodyPr/>
                    <a:lstStyle/>
                    <a:p>
                      <a:r>
                        <a:t>本地红色资源数字化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扫描/建模本地红色遗址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10-30 万/项目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80%+</a:t>
                      </a:r>
                    </a:p>
                  </a:txBody>
                  <a:tcPr/>
                </a:tc>
              </a:tr>
              <a:tr h="720000">
                <a:tc>
                  <a:txBody>
                    <a:bodyPr/>
                    <a:lstStyle/>
                    <a:p>
                      <a:r>
                        <a:t>AI 教学助手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自动生成教案、课件、测试题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3-5 万/年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90%+</a:t>
                      </a:r>
                    </a:p>
                  </a:txBody>
                  <a:tcPr/>
                </a:tc>
              </a:tr>
              <a:tr h="720000">
                <a:tc>
                  <a:txBody>
                    <a:bodyPr/>
                    <a:lstStyle/>
                    <a:p>
                      <a:r>
                        <a:t>AI 虚拟讲解员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虚拟历史人物对话系统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5-8 万/年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85%+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桂林学院：首个标杆项目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📍 合作院校：桂林学院</a:t>
            </a:r>
          </a:p>
          <a:p>
            <a:pPr>
              <a:defRPr sz="1800"/>
            </a:pPr>
            <a:r>
              <a:t>📅 运营时间：2025 年 12 月正式运营</a:t>
            </a:r>
          </a:p>
          <a:p>
            <a:pPr>
              <a:defRPr sz="1800"/>
            </a:pPr>
            <a:r>
              <a:t>💰 投资金额：100 万元（设备销售）</a:t>
            </a:r>
          </a:p>
          <a:p>
            <a:pPr>
              <a:defRPr sz="1800"/>
            </a:pPr>
            <a:r>
              <a:t>🎧 设备规模：20 台 VR 一体机</a:t>
            </a:r>
          </a:p>
          <a:p>
            <a:pPr>
              <a:defRPr sz="1800"/>
            </a:pPr>
            <a:r>
              <a:t>🏠 场地面积：80 平方米 VR 实训室</a:t>
            </a:r>
          </a:p>
          <a:p>
            <a:pPr>
              <a:defRPr sz="1800"/>
            </a:pPr>
            <a:r>
              <a:t>👥 服务师生：年均 3000+ 人次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📈 第二年：订阅 15 万 + AIGC 5-10 万</a:t>
            </a:r>
          </a:p>
          <a:p>
            <a:pPr>
              <a:defRPr sz="1800"/>
            </a:pPr>
            <a:r>
              <a:t>🔴 内容：学习强国 + 龙标认证课程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教学效果：数据说话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2520000"/>
          <a:ext cx="1075212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8030"/>
                <a:gridCol w="2688030"/>
                <a:gridCol w="2688030"/>
                <a:gridCol w="2688030"/>
              </a:tblGrid>
              <a:tr h="6000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评估维度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传统教学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VR 教学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提升幅度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学习兴趣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 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 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+41.5%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知识掌握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 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 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+22.2%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课堂参与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 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 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+62.1%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记忆留存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+73.3%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课程满意度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 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 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+28.0%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课程体系与《纲要》教材对标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2520000"/>
          <a:ext cx="1075212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4040"/>
                <a:gridCol w="3584040"/>
                <a:gridCol w="3584040"/>
              </a:tblGrid>
              <a:tr h="7200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VR 课程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对应教材章节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教材页码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r>
                        <a:t>《长征路上的抉择》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第五章 中国革命的新道路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P134-135</a:t>
                      </a:r>
                    </a:p>
                  </a:txBody>
                  <a:tcPr/>
                </a:tc>
              </a:tr>
              <a:tr h="720000">
                <a:tc>
                  <a:txBody>
                    <a:bodyPr/>
                    <a:lstStyle/>
                    <a:p>
                      <a:r>
                        <a:t>《遵义会议》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第五章 中国革命的新道路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P134-135</a:t>
                      </a:r>
                    </a:p>
                  </a:txBody>
                  <a:tcPr/>
                </a:tc>
              </a:tr>
              <a:tr h="720000">
                <a:tc>
                  <a:txBody>
                    <a:bodyPr/>
                    <a:lstStyle/>
                    <a:p>
                      <a:r>
                        <a:t>《开国大典》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第七章 为新中国而奋斗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待确认</a:t>
                      </a:r>
                    </a:p>
                  </a:txBody>
                  <a:tcPr/>
                </a:tc>
              </a:tr>
              <a:tr h="720000">
                <a:tc>
                  <a:txBody>
                    <a:bodyPr/>
                    <a:lstStyle/>
                    <a:p>
                      <a:r>
                        <a:t>《改革开放春潮》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第八章 社会主义建设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待确认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四阶教学闭环设计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2520000"/>
          <a:ext cx="1075212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4040"/>
                <a:gridCol w="3584040"/>
                <a:gridCol w="3584040"/>
              </a:tblGrid>
              <a:tr h="7200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教学内容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技术支撑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r>
                        <a:t>课前导学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微课视频 + 任务卡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云平台推送</a:t>
                      </a:r>
                    </a:p>
                  </a:txBody>
                  <a:tcPr/>
                </a:tc>
              </a:tr>
              <a:tr h="720000">
                <a:tc>
                  <a:txBody>
                    <a:bodyPr/>
                    <a:lstStyle/>
                    <a:p>
                      <a:r>
                        <a:t>课中沉浸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 人分组 VR 体验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协同交互 + 数据采集</a:t>
                      </a:r>
                    </a:p>
                  </a:txBody>
                  <a:tcPr/>
                </a:tc>
              </a:tr>
              <a:tr h="720000">
                <a:tc>
                  <a:txBody>
                    <a:bodyPr/>
                    <a:lstStyle/>
                    <a:p>
                      <a:r>
                        <a:t>课后复盘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生成决策力报告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数据可视化平台</a:t>
                      </a:r>
                    </a:p>
                  </a:txBody>
                  <a:tcPr/>
                </a:tc>
              </a:tr>
              <a:tr h="720000">
                <a:tc>
                  <a:txBody>
                    <a:bodyPr/>
                    <a:lstStyle/>
                    <a:p>
                      <a:r>
                        <a:t>社会实践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VR 勋章兑换研学资格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数字 - 实景联名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三年收入预测（100 校目标）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2520000"/>
          <a:ext cx="1075212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020"/>
                <a:gridCol w="1792020"/>
                <a:gridCol w="1792020"/>
                <a:gridCol w="1792020"/>
                <a:gridCol w="1792020"/>
                <a:gridCol w="1792020"/>
              </a:tblGrid>
              <a:tr h="9000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新增院校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设备销售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订阅收入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AIGC 收入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总收入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 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1000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1000 万</a:t>
                      </a:r>
                    </a:p>
                  </a:txBody>
                  <a:tcPr/>
                </a:tc>
              </a:tr>
              <a:tr h="900000">
                <a:tc>
                  <a:txBody>
                    <a:bodyPr/>
                    <a:lstStyle/>
                    <a:p>
                      <a:r>
                        <a:t>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 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4000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4250 万</a:t>
                      </a:r>
                    </a:p>
                  </a:txBody>
                  <a:tcPr/>
                </a:tc>
              </a:tr>
              <a:tr h="900000">
                <a:tc>
                  <a:txBody>
                    <a:bodyPr/>
                    <a:lstStyle/>
                    <a:p>
                      <a:r>
                        <a:t>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 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5000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750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450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6200 万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竞品分析：差异化定位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2520000"/>
          <a:ext cx="1075212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4040"/>
                <a:gridCol w="3584040"/>
                <a:gridCol w="3584040"/>
              </a:tblGrid>
              <a:tr h="4500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曼恒（高端）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我们（轻资产）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t>官方背书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学习强国 + 龙标双重背书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t>内容审查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未通过龙标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国家电影局龙标认证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t>政治安全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存疑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100% 安全保障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t>教材对标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一般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深度绑定《纲要》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t>AIGC 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基础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校本课程 AI 生成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t>投资门槛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 万+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100-500 万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t>部署周期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60-90 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30-45 天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区域布局：六大区全覆盖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2520000"/>
          <a:ext cx="1075212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8030"/>
                <a:gridCol w="2688030"/>
                <a:gridCol w="2688030"/>
                <a:gridCol w="2688030"/>
              </a:tblGrid>
              <a:tr h="514285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大区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覆盖省份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目标院校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优先级</a:t>
                      </a:r>
                    </a:p>
                  </a:txBody>
                  <a:tcPr>
                    <a:solidFill>
                      <a:srgbClr val="C80000"/>
                    </a:solidFill>
                  </a:tcPr>
                </a:tc>
              </a:tr>
              <a:tr h="514285">
                <a:tc>
                  <a:txBody>
                    <a:bodyPr/>
                    <a:lstStyle/>
                    <a:p>
                      <a:r>
                        <a:t>华东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江浙沪皖鲁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 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★★★★★</a:t>
                      </a:r>
                    </a:p>
                  </a:txBody>
                  <a:tcPr/>
                </a:tc>
              </a:tr>
              <a:tr h="514285">
                <a:tc>
                  <a:txBody>
                    <a:bodyPr/>
                    <a:lstStyle/>
                    <a:p>
                      <a:r>
                        <a:t>华北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京津冀晋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 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★★★★★</a:t>
                      </a:r>
                    </a:p>
                  </a:txBody>
                  <a:tcPr/>
                </a:tc>
              </a:tr>
              <a:tr h="514285">
                <a:tc>
                  <a:txBody>
                    <a:bodyPr/>
                    <a:lstStyle/>
                    <a:p>
                      <a:r>
                        <a:t>华南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粤桂琼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 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★★★★</a:t>
                      </a:r>
                    </a:p>
                  </a:txBody>
                  <a:tcPr/>
                </a:tc>
              </a:tr>
              <a:tr h="514285">
                <a:tc>
                  <a:txBody>
                    <a:bodyPr/>
                    <a:lstStyle/>
                    <a:p>
                      <a:r>
                        <a:t>华中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鄂湘豫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 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★★★★</a:t>
                      </a:r>
                    </a:p>
                  </a:txBody>
                  <a:tcPr/>
                </a:tc>
              </a:tr>
              <a:tr h="514285">
                <a:tc>
                  <a:txBody>
                    <a:bodyPr/>
                    <a:lstStyle/>
                    <a:p>
                      <a:r>
                        <a:t>西南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川渝云贵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 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★★★★</a:t>
                      </a:r>
                    </a:p>
                  </a:txBody>
                  <a:tcPr/>
                </a:tc>
              </a:tr>
              <a:tr h="514290">
                <a:tc>
                  <a:txBody>
                    <a:bodyPr/>
                    <a:lstStyle/>
                    <a:p>
                      <a:r>
                        <a:t>西北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陕甘新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 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★★★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合作流程：7 步走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意向沟通（1 周）</a:t>
            </a:r>
          </a:p>
          <a:p>
            <a:pPr>
              <a:defRPr sz="1800"/>
            </a:pPr>
            <a:r>
              <a:t>2. 方案定制（2 周）</a:t>
            </a:r>
          </a:p>
          <a:p>
            <a:pPr>
              <a:defRPr sz="1800"/>
            </a:pPr>
            <a:r>
              <a:t>3. 合同签订（1 周）</a:t>
            </a:r>
          </a:p>
          <a:p>
            <a:pPr>
              <a:defRPr sz="1800"/>
            </a:pPr>
            <a:r>
              <a:t>4. 设备部署（2 周）</a:t>
            </a:r>
          </a:p>
          <a:p>
            <a:pPr>
              <a:defRPr sz="1800"/>
            </a:pPr>
            <a:r>
              <a:t>5. 师资培训（1 周）</a:t>
            </a:r>
          </a:p>
          <a:p>
            <a:pPr>
              <a:defRPr sz="1800"/>
            </a:pPr>
            <a:r>
              <a:t>6. 正式运营（持续）</a:t>
            </a:r>
          </a:p>
          <a:p>
            <a:pPr>
              <a:defRPr sz="1800"/>
            </a:pPr>
            <a:r>
              <a:t>7. 持续服务（持续）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总周期：首校 6-8 周，后续 4-6 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排他性条款：锁定客户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📋 合同期限：3 年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🔒 排他范围：</a:t>
            </a:r>
          </a:p>
          <a:p>
            <a:pPr>
              <a:defRPr sz="1800"/>
            </a:pPr>
            <a:r>
              <a:t>   • 合作院校所在省份</a:t>
            </a:r>
          </a:p>
          <a:p>
            <a:pPr>
              <a:defRPr sz="1800"/>
            </a:pPr>
            <a:r>
              <a:t>   • 同类型 VR 思政产品独家合作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💰 续约优惠：</a:t>
            </a:r>
          </a:p>
          <a:p>
            <a:pPr>
              <a:defRPr sz="1800"/>
            </a:pPr>
            <a:r>
              <a:t>   • 连续订阅 3 年：第 4 年起 8 折</a:t>
            </a:r>
          </a:p>
          <a:p>
            <a:pPr>
              <a:defRPr sz="1800"/>
            </a:pPr>
            <a:r>
              <a:t>   • 推荐新客户：订阅费减免 20%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演示方案：3-5 分钟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🎬 Demo 战略价值：</a:t>
            </a:r>
          </a:p>
          <a:p>
            <a:pPr>
              <a:defRPr sz="1800"/>
            </a:pPr>
            <a:r>
              <a:t>   • 首次拜访：直观展示 VR 效果</a:t>
            </a:r>
          </a:p>
          <a:p>
            <a:pPr>
              <a:defRPr sz="1800"/>
            </a:pPr>
            <a:r>
              <a:t>   • 招标比稿：差异化呈现</a:t>
            </a:r>
          </a:p>
          <a:p>
            <a:pPr>
              <a:defRPr sz="1800"/>
            </a:pPr>
            <a:r>
              <a:t>   • 预算审批：实证视频增强信心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📹 制作计划：</a:t>
            </a:r>
          </a:p>
          <a:p>
            <a:pPr>
              <a:defRPr sz="1800"/>
            </a:pPr>
            <a:r>
              <a:t>   • 快速版（1-2 周）：预算 1-2 万</a:t>
            </a:r>
          </a:p>
          <a:p>
            <a:pPr>
              <a:defRPr sz="1800"/>
            </a:pPr>
            <a:r>
              <a:t>   • 专业版（3-4 周）：预算 5-8 万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🔴 核心展示：学习强国 + 龙标背书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常见问题 FAQ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Q1：内容是否政治安全？</a:t>
            </a:r>
          </a:p>
          <a:p>
            <a:pPr>
              <a:defRPr sz="1800"/>
            </a:pPr>
            <a:r>
              <a:t>A：学习强国 + 龙标双重背书，100% 安全保障。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Q2：竞品价格更低怎么办？</a:t>
            </a:r>
          </a:p>
          <a:p>
            <a:pPr>
              <a:defRPr sz="1800"/>
            </a:pPr>
            <a:r>
              <a:t>A：强调学习强国 + 龙标背书，政治安全无价。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Q3：能否申请政府专项资金？</a:t>
            </a:r>
          </a:p>
          <a:p>
            <a:pPr>
              <a:defRPr sz="1800"/>
            </a:pPr>
            <a:r>
              <a:t>A：可以，学习强国 + 龙标背书，申报成功率更高。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联系我们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👤 项目负责人：[待填写]</a:t>
            </a:r>
          </a:p>
          <a:p>
            <a:pPr>
              <a:defRPr sz="1800"/>
            </a:pPr>
            <a:r>
              <a:t>📞 联系电话：[待填写]</a:t>
            </a:r>
          </a:p>
          <a:p>
            <a:pPr>
              <a:defRPr sz="1800"/>
            </a:pPr>
            <a:r>
              <a:t>📧 电子邮箱：[待填写]</a:t>
            </a:r>
          </a:p>
          <a:p>
            <a:pPr>
              <a:defRPr sz="1800"/>
            </a:pPr>
            <a:r>
              <a:t>🏢 公司地址：[待填写]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🔴 中宣部学习强国领衔出品</a:t>
            </a:r>
          </a:p>
          <a:p>
            <a:pPr>
              <a:defRPr sz="1800"/>
            </a:pPr>
            <a:r>
              <a:t>🎬 国家电影局首个 VR 龙标认证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携手共建 思政 VR 新生态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🔴 学习强国 + 龙标双重背书 | 🤖 AIGC 技术赋能</a:t>
            </a:r>
          </a:p>
          <a:p/>
          <a:p>
            <a:r>
              <a:t>期待与您合作！</a:t>
            </a:r>
          </a:p>
          <a:p>
            <a:r>
              <a:t>版本号：V3.0（终极版）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